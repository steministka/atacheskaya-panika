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10287000" cy="18288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937F0C-C3B6-4543-94A4-7048CD62A206}">
  <a:tblStyle styleId="{DA937F0C-C3B6-4543-94A4-7048CD62A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EF0BFA1-D2E6-4F3D-A169-E95CA818AF2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Замените название и укажите себя как автора.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Слайд для нескольких участников. Лишние колонки можно удалить.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Данные, предобработка, признаки и классификатор — коротко перечислить, не читать список дословно.</a:t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Данные, предобработка, признаки и классификатор — коротко перечислить, не читать список дословно.</a:t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Данные, предобработка, признаки и классификатор — коротко перечислить, не читать список дословно.</a:t>
            </a:r>
            <a:endParaRPr/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Данные, предобработка, признаки и классификатор — коротко перечислить, не читать список дословно.</a:t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Данные, предобработка, признаки и классификатор — коротко перечислить, не читать список дословно.</a:t>
            </a:r>
            <a:endParaRPr/>
          </a:p>
        </p:txBody>
      </p:sp>
      <p:sp>
        <p:nvSpPr>
          <p:cNvPr id="107" name="Google Shape;10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Данные, предобработка, признаки и классификатор — коротко перечислить, не читать список дословно.</a:t>
            </a:r>
            <a:endParaRPr/>
          </a:p>
        </p:txBody>
      </p:sp>
      <p:sp>
        <p:nvSpPr>
          <p:cNvPr id="120" name="Google Shape;12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727391d8fe114a79_1_5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727391d8fe114a79_1_5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Контакты и благодарность.</a:t>
            </a:r>
            <a:endParaRPr/>
          </a:p>
        </p:txBody>
      </p:sp>
      <p:sp>
        <p:nvSpPr>
          <p:cNvPr id="189" name="Google Shape;18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10" Type="http://schemas.openxmlformats.org/officeDocument/2006/relationships/image" Target="../media/image21.png"/><Relationship Id="rId9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" name="Google Shape;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21644" y="446617"/>
            <a:ext cx="2574206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/>
          <p:nvPr/>
        </p:nvSpPr>
        <p:spPr>
          <a:xfrm>
            <a:off x="1047750" y="3571801"/>
            <a:ext cx="914400" cy="38100"/>
          </a:xfrm>
          <a:prstGeom prst="rect">
            <a:avLst/>
          </a:prstGeom>
          <a:solidFill>
            <a:srgbClr val="006DFF"/>
          </a:solidFill>
          <a:ln>
            <a:noFill/>
          </a:ln>
          <a:effectLst>
            <a:outerShdw blurRad="228600" rotWithShape="0" algn="bl" dir="16200000" dist="50800">
              <a:srgbClr val="006DFF">
                <a:alpha val="8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47750" y="3894253"/>
            <a:ext cx="13735050" cy="19765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9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20"/>
              <a:buFont typeface="Montserrat"/>
              <a:buNone/>
            </a:pPr>
            <a:r>
              <a:rPr b="1" i="0" lang="ru-RU" sz="612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Диагностика посттравматического стрессового расстройства (ПТСР) по сигналу ЭЭГ</a:t>
            </a:r>
            <a:endParaRPr b="0" i="0" sz="6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047750" y="6739468"/>
            <a:ext cx="14668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93F3"/>
              </a:buClr>
              <a:buSzPts val="3000"/>
              <a:buFont typeface="Montserrat"/>
              <a:buNone/>
            </a:pPr>
            <a:r>
              <a:rPr b="0" i="0" lang="ru-RU" sz="3000" u="none" cap="none" strike="noStrike">
                <a:solidFill>
                  <a:srgbClr val="4993F3"/>
                </a:solidFill>
                <a:latin typeface="Montserrat"/>
                <a:ea typeface="Montserrat"/>
                <a:cs typeface="Montserrat"/>
                <a:sym typeface="Montserrat"/>
              </a:rPr>
              <a:t>Трек: Нейродиагностика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47750" y="9401175"/>
            <a:ext cx="24591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800"/>
              <a:buFont typeface="Montserrat"/>
              <a:buNone/>
            </a:pPr>
            <a:r>
              <a:rPr b="0" i="0" lang="ru-RU" sz="1800" u="none" cap="none" strike="noStrike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МОСКВА ·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Изображение выглядит как символ, силуэт, Графика, круг&#10;&#10;Контент, сгенерированный ИИ, может содержать ошибки." id="18" name="Google Shape;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1308" y="8805272"/>
            <a:ext cx="959717" cy="959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Шрифт, текст, Графика, логотип&#10;&#10;Контент, сгенерированный ИИ, может содержать ошибки." id="19" name="Google Shape;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538959" y="8911251"/>
            <a:ext cx="2841967" cy="743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047750" y="666750"/>
            <a:ext cx="271359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Montserrat"/>
              <a:buNone/>
            </a:pPr>
            <a:r>
              <a:rPr b="1" lang="ru-RU" sz="39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Команда</a:t>
            </a:r>
            <a:endParaRPr sz="3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047750" y="1409700"/>
            <a:ext cx="762000" cy="28575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410150" y="5682895"/>
            <a:ext cx="26205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b="1" lang="ru-RU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Карпушенкова Вероника Сергеевна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6948993" y="9458325"/>
            <a:ext cx="3674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650"/>
              <a:buFont typeface="Montserrat"/>
              <a:buNone/>
            </a:pP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1" y="444107"/>
            <a:ext cx="2482850" cy="67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снимок экрана, темнота&#10;&#10;Контент, сгенерированный ИИ, может содержать ошибки." id="30" name="Google Shape;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601" y="9385209"/>
            <a:ext cx="1796131" cy="47008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201980" y="6753035"/>
            <a:ext cx="31413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455"/>
              </a:lnSpc>
              <a:spcBef>
                <a:spcPts val="0"/>
              </a:spcBef>
              <a:spcAft>
                <a:spcPts val="0"/>
              </a:spcAft>
              <a:buClr>
                <a:srgbClr val="006DFF"/>
              </a:buClr>
              <a:buSzPts val="2025"/>
              <a:buFont typeface="Calibri"/>
              <a:buNone/>
            </a:pPr>
            <a:r>
              <a:rPr b="1" lang="ru-RU" sz="2025">
                <a:solidFill>
                  <a:srgbClr val="006DFF"/>
                </a:solidFill>
                <a:latin typeface="Montserrat"/>
                <a:ea typeface="Montserrat"/>
                <a:cs typeface="Montserrat"/>
                <a:sym typeface="Montserrat"/>
              </a:rPr>
              <a:t>Ex-Skoltech (Life Science)</a:t>
            </a:r>
            <a:endParaRPr sz="2025">
              <a:solidFill>
                <a:srgbClr val="006D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879994" y="5686259"/>
            <a:ext cx="26205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b="1" lang="ru-RU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Калинкин Алексей Николаевич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600316" y="6766482"/>
            <a:ext cx="31413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455"/>
              </a:lnSpc>
              <a:spcBef>
                <a:spcPts val="0"/>
              </a:spcBef>
              <a:spcAft>
                <a:spcPts val="0"/>
              </a:spcAft>
              <a:buClr>
                <a:srgbClr val="006DFF"/>
              </a:buClr>
              <a:buSzPts val="2025"/>
              <a:buFont typeface="Calibri"/>
              <a:buNone/>
            </a:pPr>
            <a:r>
              <a:rPr b="1" lang="ru-RU" sz="2025">
                <a:solidFill>
                  <a:srgbClr val="006DFF"/>
                </a:solidFill>
                <a:latin typeface="Montserrat"/>
                <a:ea typeface="Montserrat"/>
                <a:cs typeface="Montserrat"/>
                <a:sym typeface="Montserrat"/>
              </a:rPr>
              <a:t>Ex-Skoltech (Life Science), Xelari, Inc. ML-инженер</a:t>
            </a:r>
            <a:endParaRPr sz="2025">
              <a:solidFill>
                <a:srgbClr val="006D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145066" y="5682890"/>
            <a:ext cx="2620500" cy="1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b="1" lang="ru-RU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Горбунова Александра Владимировна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865388" y="6753037"/>
            <a:ext cx="31413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FF"/>
              </a:buClr>
              <a:buSzPts val="2025"/>
              <a:buFont typeface="Calibri"/>
              <a:buNone/>
            </a:pPr>
            <a:r>
              <a:rPr b="1" lang="ru-RU" sz="2025">
                <a:solidFill>
                  <a:srgbClr val="006DFF"/>
                </a:solidFill>
                <a:latin typeface="Montserrat"/>
                <a:ea typeface="Montserrat"/>
                <a:cs typeface="Montserrat"/>
                <a:sym typeface="Montserrat"/>
              </a:rPr>
              <a:t>Ex-Skoltech (Life Science), Институт ИИ, МГУ им.М.В.Ломоносова</a:t>
            </a:r>
            <a:endParaRPr sz="2025">
              <a:solidFill>
                <a:srgbClr val="006D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2039875" y="5682900"/>
            <a:ext cx="17961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b="1" lang="ru-RU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Титова </a:t>
            </a:r>
            <a:endParaRPr b="1" sz="2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b="1" lang="ru-RU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Ева Никитична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1408321" y="6751376"/>
            <a:ext cx="31413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455"/>
              </a:lnSpc>
              <a:spcBef>
                <a:spcPts val="0"/>
              </a:spcBef>
              <a:spcAft>
                <a:spcPts val="0"/>
              </a:spcAft>
              <a:buClr>
                <a:srgbClr val="006DFF"/>
              </a:buClr>
              <a:buSzPts val="2025"/>
              <a:buFont typeface="Calibri"/>
              <a:buNone/>
            </a:pPr>
            <a:r>
              <a:rPr b="1" lang="ru-RU" sz="2025">
                <a:solidFill>
                  <a:srgbClr val="006DFF"/>
                </a:solidFill>
                <a:latin typeface="Montserrat"/>
                <a:ea typeface="Montserrat"/>
                <a:cs typeface="Montserrat"/>
                <a:sym typeface="Montserrat"/>
              </a:rPr>
              <a:t>Ex-Skoltech (Life Science), Сколтех, лаборатория метагеномного анализа </a:t>
            </a:r>
            <a:endParaRPr sz="2025">
              <a:solidFill>
                <a:srgbClr val="006D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5612725" y="5630550"/>
            <a:ext cx="20625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b="1" lang="ru-RU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Бутылин Андрей Андреевич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5073320" y="6753035"/>
            <a:ext cx="3141300" cy="1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FF"/>
              </a:buClr>
              <a:buSzPts val="2000"/>
              <a:buFont typeface="Calibri"/>
              <a:buNone/>
            </a:pPr>
            <a:r>
              <a:rPr b="1" lang="ru-RU" sz="2000">
                <a:solidFill>
                  <a:srgbClr val="006DFF"/>
                </a:solidFill>
                <a:latin typeface="Montserrat"/>
                <a:ea typeface="Montserrat"/>
                <a:cs typeface="Montserrat"/>
                <a:sym typeface="Montserrat"/>
              </a:rPr>
              <a:t>Ex-Skoltech (Life Science), МФТИ, лаборатория Нейрохимических и технологических разработок в реабилитации</a:t>
            </a:r>
            <a:endParaRPr sz="2000">
              <a:solidFill>
                <a:srgbClr val="006D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" name="Google Shape;4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94" y="2296832"/>
            <a:ext cx="3105300" cy="3105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1" name="Google Shape;4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42303" y="2296832"/>
            <a:ext cx="3105300" cy="3105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2" name="Google Shape;4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70409" y="2296834"/>
            <a:ext cx="3105300" cy="3105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3" name="Google Shape;43;p4"/>
          <p:cNvPicPr preferRelativeResize="0"/>
          <p:nvPr/>
        </p:nvPicPr>
        <p:blipFill rotWithShape="1">
          <a:blip r:embed="rId8">
            <a:alphaModFix/>
          </a:blip>
          <a:srcRect b="6916" l="11559" r="3622" t="8266"/>
          <a:stretch/>
        </p:blipFill>
        <p:spPr>
          <a:xfrm>
            <a:off x="11356354" y="2296825"/>
            <a:ext cx="3105300" cy="3105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4" name="Google Shape;44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55689" y="2296900"/>
            <a:ext cx="3105149" cy="3105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имвол, силуэт, Графика, круг&#10;&#10;Контент, сгенерированный ИИ, может содержать ошибки." id="45" name="Google Shape;45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6408" y="9126097"/>
            <a:ext cx="959717" cy="9597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1047750" y="666750"/>
            <a:ext cx="5834494" cy="635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Montserrat"/>
              <a:buNone/>
            </a:pPr>
            <a:r>
              <a:rPr b="1" lang="ru-RU" sz="4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Задача и подход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047750" y="1473696"/>
            <a:ext cx="762000" cy="28575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1047750" y="1997571"/>
            <a:ext cx="15716250" cy="6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85750" lvl="0" marL="2857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50"/>
              <a:buFont typeface="Arial"/>
              <a:buChar char="•"/>
            </a:pPr>
            <a:r>
              <a:rPr lang="ru-RU" sz="205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NeuroPlay-6C, 6 сухих электродов (Fp1, Fp2, T3, T4, O1, O2): покой + 5 таблиц Шульте</a:t>
            </a:r>
            <a:endParaRPr/>
          </a:p>
          <a:p>
            <a:pPr indent="-285750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050"/>
              <a:buFont typeface="Arial"/>
              <a:buChar char="•"/>
            </a:pPr>
            <a:r>
              <a:rPr lang="ru-RU" sz="205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3 группы: Норма, ПТСР, Соматоформные</a:t>
            </a:r>
            <a:endParaRPr sz="2050">
              <a:solidFill>
                <a:srgbClr val="1A1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6926595" y="9458325"/>
            <a:ext cx="3898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650"/>
              <a:buFont typeface="Montserrat"/>
              <a:buNone/>
            </a:pP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1" y="444107"/>
            <a:ext cx="2482850" cy="67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снимок экрана, темнота&#10;&#10;Контент, сгенерированный ИИ, может содержать ошибки." id="56" name="Google Shape;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601" y="9385209"/>
            <a:ext cx="1796131" cy="470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1402" y="3603776"/>
            <a:ext cx="10498055" cy="4560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9958" y="3318687"/>
            <a:ext cx="6952578" cy="5130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имвол, силуэт, Графика, круг&#10;&#10;Контент, сгенерированный ИИ, может содержать ошибки." id="59" name="Google Shape;5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6408" y="9126097"/>
            <a:ext cx="959717" cy="9597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1047750" y="666750"/>
            <a:ext cx="5834494" cy="635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Montserrat"/>
              <a:buNone/>
            </a:pPr>
            <a:r>
              <a:rPr b="1" lang="ru-RU" sz="4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Задача и подход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1047750" y="1473696"/>
            <a:ext cx="762000" cy="28575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047750" y="1997571"/>
            <a:ext cx="15716250" cy="6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1A1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6926595" y="9458325"/>
            <a:ext cx="3898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650"/>
              <a:buFont typeface="Montserrat"/>
              <a:buNone/>
            </a:pP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1" y="444107"/>
            <a:ext cx="2482850" cy="67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снимок экрана, темнота&#10;&#10;Контент, сгенерированный ИИ, может содержать ошибки." id="70" name="Google Shape;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601" y="9385209"/>
            <a:ext cx="1796131" cy="470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1188" y="1302246"/>
            <a:ext cx="11976699" cy="8812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имвол, силуэт, Графика, круг&#10;&#10;Контент, сгенерированный ИИ, может содержать ошибки." id="72" name="Google Shape;7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408" y="9126097"/>
            <a:ext cx="959717" cy="9597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/>
          <p:nvPr/>
        </p:nvSpPr>
        <p:spPr>
          <a:xfrm>
            <a:off x="1047750" y="666750"/>
            <a:ext cx="5834494" cy="635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Montserrat"/>
              <a:buNone/>
            </a:pPr>
            <a:r>
              <a:rPr b="1" lang="ru-RU" sz="4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Задача и подход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1047750" y="1473696"/>
            <a:ext cx="762000" cy="28575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1047750" y="1997571"/>
            <a:ext cx="15716250" cy="6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1A1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16926595" y="9458325"/>
            <a:ext cx="3898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650"/>
              <a:buFont typeface="Montserrat"/>
              <a:buNone/>
            </a:pP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1" y="444107"/>
            <a:ext cx="2482850" cy="67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снимок экрана, темнота&#10;&#10;Контент, сгенерированный ИИ, может содержать ошибки." id="83" name="Google Shape;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601" y="9385209"/>
            <a:ext cx="1796131" cy="470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852" y="2032614"/>
            <a:ext cx="18148296" cy="469605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/>
          <p:nvPr/>
        </p:nvSpPr>
        <p:spPr>
          <a:xfrm>
            <a:off x="1127225" y="7210475"/>
            <a:ext cx="16675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ontserrat"/>
              <a:buAutoNum type="alphaUcPeriod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 сыром спектре пик 50 Гц (сетевая</a:t>
            </a:r>
            <a:r>
              <a:rPr lang="ru-RU" sz="24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наводка — должен уйти после notch-фильтра в препроцессинге)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Montserrat"/>
              <a:buAutoNum type="alphaUcPeriod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</a:t>
            </a: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ыраженный альфа-пик 8-13 Гц в покое (глаза закрыты)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400"/>
              <a:buFont typeface="Montserrat"/>
              <a:buAutoNum type="alphaUcPeriod"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Наводка</a:t>
            </a: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каналов наблюдается при разведывательном осмотре данных.</a:t>
            </a:r>
            <a:endParaRPr sz="2400">
              <a:solidFill>
                <a:srgbClr val="BBBEB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Изображение выглядит как символ, силуэт, Графика, круг&#10;&#10;Контент, сгенерированный ИИ, может содержать ошибки." id="86" name="Google Shape;8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408" y="9126097"/>
            <a:ext cx="959717" cy="9597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7"/>
          <p:cNvSpPr/>
          <p:nvPr/>
        </p:nvSpPr>
        <p:spPr>
          <a:xfrm>
            <a:off x="5312825" y="2441225"/>
            <a:ext cx="390000" cy="3845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7687725" y="2441225"/>
            <a:ext cx="390000" cy="38454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12774075" y="2767943"/>
            <a:ext cx="5309325" cy="1637075"/>
          </a:xfrm>
          <a:custGeom>
            <a:rect b="b" l="l" r="r" t="t"/>
            <a:pathLst>
              <a:path extrusionOk="0" h="65483" w="212373">
                <a:moveTo>
                  <a:pt x="0" y="41964"/>
                </a:moveTo>
                <a:cubicBezTo>
                  <a:pt x="1882" y="35144"/>
                  <a:pt x="6938" y="5863"/>
                  <a:pt x="11289" y="1042"/>
                </a:cubicBezTo>
                <a:cubicBezTo>
                  <a:pt x="15640" y="-3779"/>
                  <a:pt x="14229" y="10449"/>
                  <a:pt x="26106" y="13036"/>
                </a:cubicBezTo>
                <a:cubicBezTo>
                  <a:pt x="37983" y="15623"/>
                  <a:pt x="63735" y="16329"/>
                  <a:pt x="82550" y="16564"/>
                </a:cubicBezTo>
                <a:cubicBezTo>
                  <a:pt x="101365" y="16799"/>
                  <a:pt x="125119" y="11038"/>
                  <a:pt x="138995" y="14448"/>
                </a:cubicBezTo>
                <a:cubicBezTo>
                  <a:pt x="152871" y="17858"/>
                  <a:pt x="156516" y="29029"/>
                  <a:pt x="165806" y="37025"/>
                </a:cubicBezTo>
                <a:cubicBezTo>
                  <a:pt x="175096" y="45021"/>
                  <a:pt x="186973" y="57721"/>
                  <a:pt x="194734" y="62425"/>
                </a:cubicBezTo>
                <a:cubicBezTo>
                  <a:pt x="202495" y="67129"/>
                  <a:pt x="209433" y="64778"/>
                  <a:pt x="212373" y="65248"/>
                </a:cubicBezTo>
              </a:path>
            </a:pathLst>
          </a:cu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/>
          <p:nvPr/>
        </p:nvSpPr>
        <p:spPr>
          <a:xfrm>
            <a:off x="1047750" y="666750"/>
            <a:ext cx="5834494" cy="635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Montserrat"/>
              <a:buNone/>
            </a:pPr>
            <a:r>
              <a:rPr b="1" lang="ru-RU" sz="4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Задача и подход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1047750" y="1473696"/>
            <a:ext cx="762000" cy="28575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1047750" y="1997571"/>
            <a:ext cx="15716250" cy="6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1A1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16926595" y="9458325"/>
            <a:ext cx="3898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650"/>
              <a:buFont typeface="Montserrat"/>
              <a:buNone/>
            </a:pP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1" y="444107"/>
            <a:ext cx="2482850" cy="67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снимок экрана, темнота&#10;&#10;Контент, сгенерированный ИИ, может содержать ошибки." id="100" name="Google Shape;1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601" y="9385209"/>
            <a:ext cx="1796131" cy="470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2780" y="1502271"/>
            <a:ext cx="12123867" cy="7987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8"/>
          <p:cNvSpPr txBox="1"/>
          <p:nvPr/>
        </p:nvSpPr>
        <p:spPr>
          <a:xfrm>
            <a:off x="880128" y="2880908"/>
            <a:ext cx="52290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Референсный электрод — на левом ухе, значит левые каналы (Fp1, T3, O1)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физически ближе к референсу, чем правые (Fp2, T4, O2). Если это </a:t>
            </a: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создает систематическое</a:t>
            </a: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смещение амплитуды, оно будет видно </a:t>
            </a:r>
            <a:r>
              <a:rPr lang="ru-RU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на всей выборке</a:t>
            </a:r>
            <a:endParaRPr sz="24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целиком, независимо от группы</a:t>
            </a: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то есть это проверка не про ПТСР, а про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саму схему отведения.</a:t>
            </a:r>
            <a:endParaRPr sz="2400">
              <a:solidFill>
                <a:srgbClr val="BBBEB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Изображение выглядит как символ, силуэт, Графика, круг&#10;&#10;Контент, сгенерированный ИИ, может содержать ошибки." id="103" name="Google Shape;10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408" y="9126097"/>
            <a:ext cx="959717" cy="9597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/>
          <p:nvPr/>
        </p:nvSpPr>
        <p:spPr>
          <a:xfrm>
            <a:off x="1047750" y="666750"/>
            <a:ext cx="5834494" cy="635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Montserrat"/>
              <a:buNone/>
            </a:pPr>
            <a:r>
              <a:rPr b="1" lang="ru-RU" sz="4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Задача и подход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1047750" y="1473696"/>
            <a:ext cx="762000" cy="28575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1047750" y="1997571"/>
            <a:ext cx="15716250" cy="6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1A1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16926595" y="9458325"/>
            <a:ext cx="3898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650"/>
              <a:buFont typeface="Montserrat"/>
              <a:buNone/>
            </a:pP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1" y="444107"/>
            <a:ext cx="2482850" cy="67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снимок экрана, темнота&#10;&#10;Контент, сгенерированный ИИ, может содержать ошибки." id="114" name="Google Shape;1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601" y="9385209"/>
            <a:ext cx="1796131" cy="470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3176" y="1502271"/>
            <a:ext cx="9665398" cy="8251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имвол, силуэт, Графика, круг&#10;&#10;Контент, сгенерированный ИИ, может содержать ошибки." id="116" name="Google Shape;11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408" y="9126097"/>
            <a:ext cx="959717" cy="9597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/>
          <p:nvPr/>
        </p:nvSpPr>
        <p:spPr>
          <a:xfrm>
            <a:off x="1047750" y="666750"/>
            <a:ext cx="5834494" cy="635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Montserrat"/>
              <a:buNone/>
            </a:pPr>
            <a:r>
              <a:rPr b="1" lang="ru-RU" sz="4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Задача и подход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1047750" y="1473696"/>
            <a:ext cx="762000" cy="28575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1047750" y="1997571"/>
            <a:ext cx="15716250" cy="6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07975" lvl="0" marL="2857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NeuroPlay-6C, 6 сухих электродов (Fp1, Fp2, T3, T4, O1, O2): покой + 5 таблиц Шульте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3 группы: Норма, ПТСР, Соматоформные — выход: вероятность ПТСР в [0, 1]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Предобработка: интерполяция плохих каналов → фильтр 1–40 Гц + notch 50 Гц → CAR → ICA → отбраковка шумных окон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Признаки: Биологические (DFA, относительная мощность, фрактальная размерность Хигучи) + время записи (для модели с поведенческими признаками)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Классификатор: логистическая регрессия с L2-регуляризацией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Валидация — обязательный LOSO (leave-one-subject-out)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16926595" y="9458325"/>
            <a:ext cx="3898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650"/>
              <a:buFont typeface="Montserrat"/>
              <a:buNone/>
            </a:pP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1" y="444107"/>
            <a:ext cx="2482850" cy="67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снимок экрана, темнота&#10;&#10;Контент, сгенерированный ИИ, может содержать ошибки." id="127" name="Google Shape;12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601" y="9385209"/>
            <a:ext cx="1796131" cy="47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имвол, силуэт, Графика, круг&#10;&#10;Контент, сгенерированный ИИ, может содержать ошибки." id="128" name="Google Shape;12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408" y="9126097"/>
            <a:ext cx="959717" cy="9597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/>
          <p:nvPr/>
        </p:nvSpPr>
        <p:spPr>
          <a:xfrm>
            <a:off x="992050" y="666750"/>
            <a:ext cx="14040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Montserrat"/>
              <a:buNone/>
            </a:pPr>
            <a:r>
              <a:rPr b="1" lang="ru-RU" sz="4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Признаки и физиологическая интерпретация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1047750" y="1473696"/>
            <a:ext cx="762000" cy="28575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"/>
          <p:cNvSpPr/>
          <p:nvPr/>
        </p:nvSpPr>
        <p:spPr>
          <a:xfrm>
            <a:off x="532400" y="2796235"/>
            <a:ext cx="6785400" cy="52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07975" lvl="0" marL="2857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Признаки после отбора: спектральная мощность (бета/дельта/тета/гамма), DFA-экспонента, фрактальная размерность Хигучи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Самый обоснованный: дельта T4 в покое ↓ при ПТСР (Shim et al., 2022)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Остальные признаки — по большей части исследовательские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Эмбеддинги REVE опробованы и исключены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16926595" y="9458325"/>
            <a:ext cx="3898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650"/>
              <a:buFont typeface="Montserrat"/>
              <a:buNone/>
            </a:pP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1" y="444107"/>
            <a:ext cx="2482850" cy="67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снимок экрана, темнота&#10;&#10;Контент, сгенерированный ИИ, может содержать ошибки." id="138" name="Google Shape;13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601" y="9385209"/>
            <a:ext cx="1796131" cy="47008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" name="Google Shape;139;p11"/>
          <p:cNvGraphicFramePr/>
          <p:nvPr/>
        </p:nvGraphicFramePr>
        <p:xfrm>
          <a:off x="7317800" y="29386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{DA937F0C-C3B6-4543-94A4-7048CD62A206}</a:tableStyleId>
              </a:tblPr>
              <a:tblGrid>
                <a:gridCol w="2100325"/>
                <a:gridCol w="889850"/>
                <a:gridCol w="1669350"/>
                <a:gridCol w="1779850"/>
                <a:gridCol w="4103350"/>
              </a:tblGrid>
              <a:tr h="72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Признак</a:t>
                      </a:r>
                      <a:endParaRPr sz="17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0800" marB="50800" marR="63500" marL="63500" anchor="ctr">
                    <a:lnL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Канал</a:t>
                      </a:r>
                      <a:endParaRPr sz="17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Компонент/</a:t>
                      </a:r>
                      <a:endParaRPr sz="17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диапазон</a:t>
                      </a:r>
                      <a:endParaRPr sz="17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Направление при ПТСР</a:t>
                      </a:r>
                      <a:endParaRPr sz="17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Механизм / источник</a:t>
                      </a:r>
                      <a:endParaRPr sz="17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rest__rp__beta_T4</a:t>
                      </a:r>
                      <a:endParaRPr i="1" sz="1700"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T4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Альфа ритм  (7-14 Гц), покой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снижение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 височной доле </a:t>
                      </a: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может</a:t>
                      </a: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быть выражаться асинхронизацией связанной с эмоциональной реакцией. По доступным данным в состоянии покоя обладает низкой </a:t>
                      </a: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надежностью</a:t>
                      </a: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(Butt et al. 2019). 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rest__rp__beta_O1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O1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Альфа ритм  (7-14 Гц), покой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снижение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Растормаживание затылочной доли, в связи с общим </a:t>
                      </a: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нарушением</a:t>
                      </a: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процесса функционального торможения (Butt et al., 2019; Clancy et al., 2020 )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rest__rp__delta_T4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T4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Дельта ритм (0.5-4 Гц), покой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снижение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Может отражать долгосрочное </a:t>
                      </a: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отсутствие</a:t>
                      </a:r>
                      <a:r>
                        <a:rPr lang="ru-RU" sz="1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глубокого сна. Фронто-височная дельта у ПТСР снижена (Shim et al. 2022).</a:t>
                      </a:r>
                      <a:endParaRPr sz="1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Изображение выглядит как символ, силуэт, Графика, круг&#10;&#10;Контент, сгенерированный ИИ, может содержать ошибки." id="140" name="Google Shape;14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408" y="9126097"/>
            <a:ext cx="959717" cy="9597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" name="Google Shape;145;p12"/>
          <p:cNvGraphicFramePr/>
          <p:nvPr/>
        </p:nvGraphicFramePr>
        <p:xfrm>
          <a:off x="711988" y="1014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{DA937F0C-C3B6-4543-94A4-7048CD62A206}</a:tableStyleId>
              </a:tblPr>
              <a:tblGrid>
                <a:gridCol w="3039175"/>
                <a:gridCol w="1334625"/>
                <a:gridCol w="3049225"/>
                <a:gridCol w="1967300"/>
                <a:gridCol w="7473700"/>
              </a:tblGrid>
              <a:tr h="51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Признак</a:t>
                      </a:r>
                      <a:endParaRPr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Отведение</a:t>
                      </a:r>
                      <a:endParaRPr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Компонент/диапазон</a:t>
                      </a:r>
                      <a:endParaRPr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Направление при ПТСР</a:t>
                      </a:r>
                      <a:endParaRPr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Механизм / источник</a:t>
                      </a:r>
                      <a:endParaRPr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3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rest__nonlin__dfa_T4</a:t>
                      </a:r>
                      <a:endParaRPr>
                        <a:solidFill>
                          <a:srgbClr val="2E74B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DFA-экспонента, покой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определено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Долговременная самоорганизацию колебаний в височной доле, которая может быть связана с наличием аудиальных стимулов на протяжении всей записи (метроном). 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Прямых работ по DFA при ПТСР не найдено.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task__nonlin__dfa_Fp2</a:t>
                      </a:r>
                      <a:endParaRPr>
                        <a:solidFill>
                          <a:srgbClr val="2E74B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Fp2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DFA-экспонента, задача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определено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Долговременная когнитивная нагрузка над задачей. Нет прямых работ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task__nonlin__dfa_O1</a:t>
                      </a:r>
                      <a:endParaRPr>
                        <a:solidFill>
                          <a:srgbClr val="2E74B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DFA-экспонента, задача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определено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Долговременная концентрация на </a:t>
                      </a: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выполнении</a:t>
                      </a: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зрительной задачи. Нет прямых работ.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task__nonlin__dfa_T3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DFA-экспонента, задача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определено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Долговременная самоорганизацию из за наличия аудиальных стимулов (метроном).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task__rp__beta_O2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Альфа ритм  (7-14 Гц), задача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определено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Наличие сонливости или снижение концентрации на визуальной задаче. В не задачи покоя прямых данных по ПТСР для этого диапазона не найдено.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rest__rp__beta_Fp1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Fp1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Альфа ритм  (7-14 Гц), задача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определено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Фронтальная альфа-асимметрия описана как непоследовательная и зависящая от пола (Butt et al. 2019).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task__rp__theta_O2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Тета ритм (4-8 Гц), задача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определено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Наличие концентрации и “сканирования” в визуальных задачах (Spyropoulo et al. 2018).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task__rp__delta_Fp2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Fp2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Дельта ритм (0.5-4 Гц), задача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определено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Сигналы торможения, счёт в уме и семантические задачи </a:t>
                      </a: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обрабатываемые</a:t>
                      </a: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именно в лобных долях (Harmony, 2013).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task__rp__delta_Fp1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Fp1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Дельта ритм (0.5-4 Гц), задача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определено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Сигналы торможения, счёт в уме и семантические задачи </a:t>
                      </a: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обрабатываемые</a:t>
                      </a: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именно в лобных долях (Harmony, 2013).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task__nonlin__higuchi_Fp1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Fp1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фрактальная размерность Хигучи, задача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определено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Оценка сложности и адаптивности сигнала во времени, при когнитивных нарушениях, сложность снижается. Прямых работ по ПТСР не найдено.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task__rp__gamma_O2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Гамма ритм (30-40 Гц), задача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определено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Данный ритм может имеет отношение к распознаванию геометрических и линейный паттернов в задачах (Hermes et al. 2014). Прямых работ по ПТСР не найдено.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task__nonlin__higuchi_Fp2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Fp2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фрактальная размерность Хигучи, задача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определено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 anchor="ctr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Оценка сложности и адаптивности сигнала во времени, при когнитивных нарушениях, сложность снижается. Прямых работ по ПТСР не найдено.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50800" marB="508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Изображение выглядит как черный, снимок экрана, темнота&#10;&#10;Контент, сгенерированный ИИ, может содержать ошибки." id="146" name="Google Shape;1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26" y="9370922"/>
            <a:ext cx="1796132" cy="47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1" y="144082"/>
            <a:ext cx="2482850" cy="67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имвол, силуэт, Графика, круг&#10;&#10;Контент, сгенерированный ИИ, может содержать ошибки." id="148" name="Google Shape;14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408" y="9126097"/>
            <a:ext cx="959717" cy="9597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" name="Google Shape;149;p12"/>
          <p:cNvSpPr/>
          <p:nvPr/>
        </p:nvSpPr>
        <p:spPr>
          <a:xfrm>
            <a:off x="16926595" y="9458325"/>
            <a:ext cx="3900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650"/>
              <a:buFont typeface="Montserrat"/>
              <a:buNone/>
            </a:pP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/>
          <p:nvPr/>
        </p:nvSpPr>
        <p:spPr>
          <a:xfrm>
            <a:off x="1047750" y="666750"/>
            <a:ext cx="11663698" cy="635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Montserrat"/>
              <a:buNone/>
            </a:pPr>
            <a:r>
              <a:rPr b="1" lang="ru-RU" sz="4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Метрики: качество и специфичность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1047750" y="1473696"/>
            <a:ext cx="762000" cy="28575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1047750" y="1997574"/>
            <a:ext cx="15716100" cy="45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07975" lvl="0" marL="2857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LOSO кроссвалидация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Финальное число и bootstrap-доверительный интервал (2000 итераций) — в отчёте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Специфичность проверяется на группе Соматоформные — это не ПТСР, но и не норма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Модель не должна путать Соматоформные с ПТСР — иначе она ловит общий дистресс, а не ПТСР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Дополнительно — сбалансированная точность на пороге 0.5 (классы несбалансированы)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16926595" y="9458325"/>
            <a:ext cx="3898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650"/>
              <a:buFont typeface="Montserrat"/>
              <a:buNone/>
            </a:pP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1" y="444107"/>
            <a:ext cx="2482850" cy="67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снимок экрана, темнота&#10;&#10;Контент, сгенерированный ИИ, может содержать ошибки." id="159" name="Google Shape;1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601" y="9385209"/>
            <a:ext cx="1796131" cy="47008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13"/>
          <p:cNvGraphicFramePr/>
          <p:nvPr/>
        </p:nvGraphicFramePr>
        <p:xfrm>
          <a:off x="2948500" y="574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{4EF0BFA1-D2E6-4F3D-A169-E95CA818AF2D}</a:tableStyleId>
              </a:tblPr>
              <a:tblGrid>
                <a:gridCol w="3144725"/>
                <a:gridCol w="1753975"/>
                <a:gridCol w="1753975"/>
                <a:gridCol w="1753975"/>
                <a:gridCol w="1753975"/>
                <a:gridCol w="1753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Признаки</a:t>
                      </a:r>
                      <a:endParaRPr b="1"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ROC-AUC</a:t>
                      </a:r>
                      <a:endParaRPr b="1"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Accuracy</a:t>
                      </a:r>
                      <a:endParaRPr b="1"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Precision </a:t>
                      </a:r>
                      <a:endParaRPr b="1"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Recall</a:t>
                      </a:r>
                      <a:endParaRPr b="1"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F1-score</a:t>
                      </a:r>
                      <a:endParaRPr b="1"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Только ЭЭГ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0.759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0.697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0.302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0.760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0.432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ЭЭГ + поведенческие признаки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0.872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0.800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0.420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0.840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0.560</a:t>
                      </a:r>
                      <a:endParaRPr sz="2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Изображение выглядит как символ, силуэт, Графика, круг&#10;&#10;Контент, сгенерированный ИИ, может содержать ошибки." id="161" name="Google Shape;16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408" y="9126097"/>
            <a:ext cx="959717" cy="9597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/>
          <p:nvPr/>
        </p:nvSpPr>
        <p:spPr>
          <a:xfrm>
            <a:off x="1047750" y="666750"/>
            <a:ext cx="140400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Montserrat"/>
              <a:buNone/>
            </a:pPr>
            <a:r>
              <a:rPr b="1" lang="ru-RU" sz="4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Контроль конфаундеров и устойчивость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1047750" y="1473696"/>
            <a:ext cx="762000" cy="28575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"/>
          <p:cNvSpPr/>
          <p:nvPr/>
        </p:nvSpPr>
        <p:spPr>
          <a:xfrm>
            <a:off x="903300" y="1748750"/>
            <a:ext cx="17040600" cy="3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07975" lvl="0" marL="2857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3 обязательные проверки: возраст по признакам внутри Нормы, метрики по возрастным подгруппам, независимость от времени решения таблиц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На интерпретируемой ветке уже найден реальный возрастной эффект в младшей трети Нормы 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Решение сознательно упрощено: отказались от REVE в пользу устойчивых интерпретируемых признаков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Ограничения: группа ПТСР — только мужчины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16926595" y="9458325"/>
            <a:ext cx="3898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650"/>
              <a:buFont typeface="Montserrat"/>
              <a:buNone/>
            </a:pP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1" y="444107"/>
            <a:ext cx="2482850" cy="67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снимок экрана, темнота&#10;&#10;Контент, сгенерированный ИИ, может содержать ошибки." id="171" name="Google Shape;1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601" y="9385209"/>
            <a:ext cx="1796131" cy="47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имвол, силуэт, Графика, круг&#10;&#10;Контент, сгенерированный ИИ, может содержать ошибки." id="172" name="Google Shape;17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408" y="9126097"/>
            <a:ext cx="959717" cy="9597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3" name="Google Shape;17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0663" y="5000913"/>
            <a:ext cx="1219200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/>
          <p:nvPr/>
        </p:nvSpPr>
        <p:spPr>
          <a:xfrm>
            <a:off x="1047750" y="666750"/>
            <a:ext cx="11071270" cy="6354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Montserrat"/>
              <a:buNone/>
            </a:pPr>
            <a:r>
              <a:rPr b="1" lang="ru-RU" sz="4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Бонус: метроном → MMN/P3a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1047750" y="1473696"/>
            <a:ext cx="762000" cy="28575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558950" y="1671600"/>
            <a:ext cx="17566500" cy="23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07975" lvl="0" marL="2857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Меток стимулов нет — восстановили фазу метронома (узкополосный фильтр + преобразование Гильберта)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Позиция девианта найдена без циркулярности — split-half тест, p = 1.9×10^-9</a:t>
            </a:r>
            <a:endParaRPr sz="2400">
              <a:solidFill>
                <a:srgbClr val="1A1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MMN подтверждён: негативность на 100–200 мс, p ≈ 0.0001–0.0005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07975" lvl="0" marL="285750" marR="0" rtl="0"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Montserrat"/>
              <a:buChar char="•"/>
            </a:pPr>
            <a:r>
              <a:rPr lang="ru-RU" sz="24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P3a не подтверждён — знак эффекта не совпал с ожидаемым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16926595" y="9458325"/>
            <a:ext cx="3898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1650"/>
              <a:buFont typeface="Montserrat"/>
              <a:buNone/>
            </a:pPr>
            <a:r>
              <a:rPr lang="ru-RU" sz="165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1" y="444107"/>
            <a:ext cx="2482850" cy="679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снимок экрана, темнота&#10;&#10;Контент, сгенерированный ИИ, может содержать ошибки." id="183" name="Google Shape;18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6801" y="9479647"/>
            <a:ext cx="1796132" cy="470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604" y="4100629"/>
            <a:ext cx="17962790" cy="4855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имвол, силуэт, Графика, круг&#10;&#10;Контент, сгенерированный ИИ, может содержать ошибки." id="185" name="Google Shape;18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033" y="9234835"/>
            <a:ext cx="959717" cy="9597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1" name="Google Shape;1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8578" y="446617"/>
            <a:ext cx="2574206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/>
          <p:nvPr/>
        </p:nvSpPr>
        <p:spPr>
          <a:xfrm>
            <a:off x="1047750" y="3766170"/>
            <a:ext cx="914400" cy="38100"/>
          </a:xfrm>
          <a:prstGeom prst="rect">
            <a:avLst/>
          </a:prstGeom>
          <a:solidFill>
            <a:srgbClr val="006DFF"/>
          </a:solidFill>
          <a:ln>
            <a:noFill/>
          </a:ln>
          <a:effectLst>
            <a:outerShdw blurRad="228600" rotWithShape="0" algn="bl" dir="16200000" dist="50800">
              <a:srgbClr val="006DFF">
                <a:alpha val="8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1047750" y="4185270"/>
            <a:ext cx="12753975" cy="1683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6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</a:pPr>
            <a:r>
              <a:rPr b="1" lang="ru-RU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1047750" y="5316847"/>
            <a:ext cx="13620750" cy="4800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974"/>
              </a:lnSpc>
              <a:spcBef>
                <a:spcPts val="0"/>
              </a:spcBef>
              <a:spcAft>
                <a:spcPts val="0"/>
              </a:spcAft>
              <a:buClr>
                <a:srgbClr val="6B94CB"/>
              </a:buClr>
              <a:buSzPts val="2400"/>
              <a:buFont typeface="Montserrat"/>
              <a:buNone/>
            </a:pPr>
            <a:r>
              <a:rPr b="1" lang="ru-RU" sz="2400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Контакты для связи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Изображение выглядит как символ, силуэт, Графика, круг&#10;&#10;Контент, сгенерированный ИИ, может содержать ошибки." id="196" name="Google Shape;19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1308" y="8805272"/>
            <a:ext cx="959717" cy="959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Шрифт, текст, Графика, логотип&#10;&#10;Контент, сгенерированный ИИ, может содержать ошибки." id="197" name="Google Shape;19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538959" y="8911251"/>
            <a:ext cx="2841967" cy="743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